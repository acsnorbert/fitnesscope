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av" ContentType="audio/x-wav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7" r:id="rId5"/>
    <p:sldId id="260" r:id="rId6"/>
    <p:sldId id="259" r:id="rId7"/>
    <p:sldId id="261" r:id="rId8"/>
    <p:sldId id="262" r:id="rId9"/>
    <p:sldId id="263" r:id="rId10"/>
    <p:sldId id="264" r:id="rId11"/>
    <p:sldId id="265" r:id="rId12"/>
    <p:sldId id="258" r:id="rId13"/>
  </p:sldIdLst>
  <p:sldSz cx="12192000" cy="6858000"/>
  <p:notesSz cx="6858000" cy="9144000"/>
  <p:defaultTextStyle>
    <a:defPPr rtl="0">
      <a:defRPr lang="h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28"/>
  </p:normalViewPr>
  <p:slideViewPr>
    <p:cSldViewPr snapToGrid="0" snapToObjects="1">
      <p:cViewPr varScale="1">
        <p:scale>
          <a:sx n="75" d="100"/>
          <a:sy n="75" d="100"/>
        </p:scale>
        <p:origin x="9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9" d="100"/>
          <a:sy n="89" d="100"/>
        </p:scale>
        <p:origin x="300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>
            <a:extLst>
              <a:ext uri="{FF2B5EF4-FFF2-40B4-BE49-F238E27FC236}">
                <a16:creationId xmlns:a16="http://schemas.microsoft.com/office/drawing/2014/main" id="{77C6512C-9C1B-4BF3-996E-58880529ECD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C868295F-3946-47A7-90A1-8CF128E368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EBD065-8C8B-46D7-8E07-57898A214661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06A20602-8DB1-4FB5-8F18-B0D9927FEE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0BED5705-7176-4369-A3D0-2A3EBD9E9C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333F9A-5EE5-458C-ABA7-6EC065EAE3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2903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 noProof="0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4DDC1D-38A5-4A8E-9EB5-9B14C53D2AF0}" type="datetimeFigureOut">
              <a:rPr lang="hu-HU" noProof="0" smtClean="0"/>
              <a:t>2025. 12. 04.</a:t>
            </a:fld>
            <a:endParaRPr lang="hu-HU" noProof="0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 noProof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noProof="0"/>
              <a:t>Mintaszöveg szerkesztése</a:t>
            </a:r>
          </a:p>
          <a:p>
            <a:pPr lvl="1"/>
            <a:r>
              <a:rPr lang="hu-HU" noProof="0"/>
              <a:t>Második szint</a:t>
            </a:r>
          </a:p>
          <a:p>
            <a:pPr lvl="2"/>
            <a:r>
              <a:rPr lang="hu-HU" noProof="0"/>
              <a:t>Harmadik szint</a:t>
            </a:r>
          </a:p>
          <a:p>
            <a:pPr lvl="3"/>
            <a:r>
              <a:rPr lang="hu-HU" noProof="0"/>
              <a:t>Negyedik szint</a:t>
            </a:r>
          </a:p>
          <a:p>
            <a:pPr lvl="4"/>
            <a:r>
              <a:rPr lang="hu-HU" noProof="0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 noProof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209CDF-C829-4F7F-A169-519EF86AF999}" type="slidenum">
              <a:rPr lang="hu-HU" noProof="0" smtClean="0"/>
              <a:t>‹#›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34297073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209CDF-C829-4F7F-A169-519EF86AF999}" type="slidenum">
              <a:rPr lang="hu-HU" noProof="0" smtClean="0"/>
              <a:t>1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79061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 hasCustomPrompt="1"/>
          </p:nvPr>
        </p:nvSpPr>
        <p:spPr>
          <a:xfrm>
            <a:off x="1915128" y="1788454"/>
            <a:ext cx="8361229" cy="2098226"/>
          </a:xfrm>
        </p:spPr>
        <p:txBody>
          <a:bodyPr rtlCol="0"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 hasCustomPrompt="1"/>
          </p:nvPr>
        </p:nvSpPr>
        <p:spPr>
          <a:xfrm>
            <a:off x="2679906" y="3956279"/>
            <a:ext cx="6831673" cy="1086237"/>
          </a:xfrm>
        </p:spPr>
        <p:txBody>
          <a:bodyPr rtlCol="0"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hu-HU" dirty="0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BD2D76E8-F7AC-45EF-A70E-B6FBE2AE53E2}" type="datetime1">
              <a:rPr lang="hu-HU" smtClean="0"/>
              <a:t>2025. 12. 04.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 rtlCol="0"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pPr rtl="0"/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hu-HU" smtClean="0"/>
              <a:pPr/>
              <a:t>‹#›</a:t>
            </a:fld>
            <a:endParaRPr lang="hu-HU" dirty="0"/>
          </a:p>
        </p:txBody>
      </p:sp>
      <p:grpSp>
        <p:nvGrpSpPr>
          <p:cNvPr id="7" name="Csoport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Szabadkézi sokszög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Szabadkézi sokszög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77962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hu-HU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2D66B8-DD23-45D3-A040-11369BD3EB8E}" type="datetime1">
              <a:rPr lang="hu-HU" smtClean="0"/>
              <a:t>2025. 12. 04.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50405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765025" y="1301360"/>
            <a:ext cx="9612971" cy="2852737"/>
          </a:xfrm>
        </p:spPr>
        <p:txBody>
          <a:bodyPr rtlCol="0"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 rtlCol="0"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2447A976-9326-4175-AB26-CEADFE24AA8A}" type="datetime1">
              <a:rPr lang="hu-HU" smtClean="0"/>
              <a:t>2025. 12. 04.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 rtlCol="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7" name="Szabadkézi sokszög 6" title="Körülvágási jel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65941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Szakaszfejlé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765025" y="1301360"/>
            <a:ext cx="9612971" cy="2852737"/>
          </a:xfrm>
        </p:spPr>
        <p:txBody>
          <a:bodyPr rtlCol="0"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 rtlCol="0"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2447A976-9326-4175-AB26-CEADFE24AA8A}" type="datetime1">
              <a:rPr lang="hu-HU" smtClean="0"/>
              <a:t>2025. 12. 04.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 rtlCol="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7" name="Szabadkézi sokszög 6" title="Körülvágási jel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974531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ét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-HU" noProof="0"/>
              <a:t>Mintacím stílusának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CDF954A-FC8E-4162-924A-5E717CAB9CBF}" type="datetime1">
              <a:rPr lang="hu-HU" noProof="0" smtClean="0"/>
              <a:t>2025. 12. 04.</a:t>
            </a:fld>
            <a:endParaRPr lang="hu-HU" noProof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hu-HU" noProof="0" smtClean="0"/>
              <a:t>‹#›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1332195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1371600" y="685800"/>
            <a:ext cx="9601200" cy="14859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rtlCol="0"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hu-HU" dirty="0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rtlCol="0"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hu-HU" dirty="0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11B042-4F17-47AF-BF42-E81DDEB7E1F4}" type="datetime1">
              <a:rPr lang="hu-HU" smtClean="0"/>
              <a:t>2025. 12. 04.</a:t>
            </a:fld>
            <a:endParaRPr lang="hu-HU" dirty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69596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2_Szakaszfejlé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765025" y="1301360"/>
            <a:ext cx="9612971" cy="2852737"/>
          </a:xfrm>
        </p:spPr>
        <p:txBody>
          <a:bodyPr rtlCol="0"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 rtlCol="0"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2447A976-9326-4175-AB26-CEADFE24AA8A}" type="datetime1">
              <a:rPr lang="hu-HU" smtClean="0"/>
              <a:t>2025. 12. 04.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 rtlCol="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7" name="Szabadkézi sokszög 6" title="Körülvágási jel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788092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1ED8BAE-560F-4734-BCAC-2EB7C0151E0E}" type="datetime1">
              <a:rPr lang="hu-HU" smtClean="0"/>
              <a:t>2025. 12. 04.</a:t>
            </a:fld>
            <a:endParaRPr lang="hu-HU" dirty="0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09832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 title="Háttéralakzat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723900" y="685800"/>
            <a:ext cx="3855720" cy="2157884"/>
          </a:xfrm>
        </p:spPr>
        <p:txBody>
          <a:bodyPr rtlCol="0"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hu-HU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 rtlCol="0"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92EE601A-A4C8-4C85-82AE-BE4309797671}" type="datetime1">
              <a:rPr lang="hu-HU" smtClean="0"/>
              <a:t>2025. 12. 04.</a:t>
            </a:fld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9" name="Téglalap 8" title="Elválasztó sáv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84512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 title="Háttéralakzat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723900" y="685800"/>
            <a:ext cx="3855720" cy="2157884"/>
          </a:xfrm>
        </p:spPr>
        <p:txBody>
          <a:bodyPr rtlCol="0"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Kép helyőrzőj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532120" y="0"/>
            <a:ext cx="6659880" cy="6857999"/>
          </a:xfrm>
        </p:spPr>
        <p:txBody>
          <a:bodyPr rtlCol="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hu-HU" dirty="0"/>
              <a:t>Kép hozzáadásához kattintson az ikonra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 rtlCol="0"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8C22A1BC-6735-40DE-88DB-B1831D542CBD}" type="datetime1">
              <a:rPr lang="hu-HU" smtClean="0"/>
              <a:t>2025. 12. 04.</a:t>
            </a:fld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9" name="Téglalap 8" title="Elválasztó sáv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63938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 rtlCol="0"/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hu-HU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677460-D559-47FC-A67B-71232E69D5ED}" type="datetime1">
              <a:rPr lang="hu-HU" smtClean="0"/>
              <a:t>2025. 12. 04.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514251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 hasCustomPrompt="1"/>
          </p:nvPr>
        </p:nvSpPr>
        <p:spPr>
          <a:xfrm>
            <a:off x="9596561" y="624156"/>
            <a:ext cx="1565766" cy="5243244"/>
          </a:xfrm>
        </p:spPr>
        <p:txBody>
          <a:bodyPr vert="eaVert" rtlCol="0"/>
          <a:lstStyle/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 rtlCol="0"/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hu-HU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5A6154-076A-4A27-9654-3193E639836B}" type="datetime1">
              <a:rPr lang="hu-HU" smtClean="0"/>
              <a:t>2025. 12. 04.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45499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hu-HU" noProof="0"/>
              <a:t>Mintacím stílusának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fld id="{8B4B1513-D00F-4537-B4C1-E2AF8F2A24F2}" type="datetime1">
              <a:rPr lang="hu-HU" noProof="0" smtClean="0"/>
              <a:t>2025. 12. 04.</a:t>
            </a:fld>
            <a:endParaRPr lang="hu-HU" noProof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hu-HU" noProof="0" smtClean="0"/>
              <a:pPr/>
              <a:t>‹#›</a:t>
            </a:fld>
            <a:endParaRPr lang="hu-HU" noProof="0"/>
          </a:p>
        </p:txBody>
      </p:sp>
      <p:sp>
        <p:nvSpPr>
          <p:cNvPr id="9" name="Téglalap 8" title="Oldalsáv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701515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2" r:id="rId4"/>
    <p:sldLayoutId id="2147483664" r:id="rId5"/>
    <p:sldLayoutId id="2147483665" r:id="rId6"/>
    <p:sldLayoutId id="2147483673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gif"/><Relationship Id="rId9" Type="http://schemas.openxmlformats.org/officeDocument/2006/relationships/audio" Target="../media/audio2.wav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églalap 29">
            <a:extLst>
              <a:ext uri="{FF2B5EF4-FFF2-40B4-BE49-F238E27FC236}">
                <a16:creationId xmlns:a16="http://schemas.microsoft.com/office/drawing/2014/main" id="{310B1DD0-264A-47E3-A16A-C87AFA51E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2">
                  <a:alpha val="70000"/>
                </a:schemeClr>
              </a:gs>
              <a:gs pos="10000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pic>
        <p:nvPicPr>
          <p:cNvPr id="19" name="Kép 18">
            <a:extLst>
              <a:ext uri="{FF2B5EF4-FFF2-40B4-BE49-F238E27FC236}">
                <a16:creationId xmlns:a16="http://schemas.microsoft.com/office/drawing/2014/main" id="{452F01FB-F9C4-451B-8F30-865CDF601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4969" y="2341933"/>
            <a:ext cx="3458086" cy="4516067"/>
          </a:xfrm>
          <a:prstGeom prst="rect">
            <a:avLst/>
          </a:prstGeom>
        </p:spPr>
      </p:pic>
      <p:sp>
        <p:nvSpPr>
          <p:cNvPr id="32" name="Szabadkézi sokszög 6">
            <a:extLst>
              <a:ext uri="{FF2B5EF4-FFF2-40B4-BE49-F238E27FC236}">
                <a16:creationId xmlns:a16="http://schemas.microsoft.com/office/drawing/2014/main" id="{69C1BB7B-F21E-41A2-B30C-D8507B960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hu-HU" dirty="0"/>
          </a:p>
        </p:txBody>
      </p:sp>
      <p:sp>
        <p:nvSpPr>
          <p:cNvPr id="34" name="Szabadkézi sokszög 6">
            <a:extLst>
              <a:ext uri="{FF2B5EF4-FFF2-40B4-BE49-F238E27FC236}">
                <a16:creationId xmlns:a16="http://schemas.microsoft.com/office/drawing/2014/main" id="{DF6D7DDE-F8A1-4105-9729-F9EB5F81A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5C93519-6B29-1346-9FCB-0835B8053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451681"/>
            <a:ext cx="8361229" cy="984959"/>
          </a:xfrm>
        </p:spPr>
        <p:txBody>
          <a:bodyPr rtlCol="0">
            <a:normAutofit fontScale="90000"/>
          </a:bodyPr>
          <a:lstStyle/>
          <a:p>
            <a:pPr rtl="0"/>
            <a:r>
              <a:rPr lang="hu-HU" dirty="0" err="1">
                <a:solidFill>
                  <a:schemeClr val="bg2"/>
                </a:solidFill>
              </a:rPr>
              <a:t>Fitness</a:t>
            </a:r>
            <a:r>
              <a:rPr lang="hu-HU" dirty="0">
                <a:solidFill>
                  <a:schemeClr val="bg2"/>
                </a:solidFill>
              </a:rPr>
              <a:t> </a:t>
            </a:r>
            <a:r>
              <a:rPr lang="hu-HU" dirty="0" err="1">
                <a:solidFill>
                  <a:schemeClr val="bg2"/>
                </a:solidFill>
              </a:rPr>
              <a:t>cope</a:t>
            </a:r>
            <a:endParaRPr lang="hu-HU" dirty="0">
              <a:solidFill>
                <a:schemeClr val="bg2"/>
              </a:solidFill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6A344EB4-80B5-4177-A768-B3EA5D4482EF}"/>
              </a:ext>
            </a:extLst>
          </p:cNvPr>
          <p:cNvSpPr txBox="1"/>
          <p:nvPr/>
        </p:nvSpPr>
        <p:spPr>
          <a:xfrm>
            <a:off x="6916888" y="5223148"/>
            <a:ext cx="454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Készítette: Pálinkás Andor, Ács Norbert</a:t>
            </a: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0810F2BB-0DC5-4FD7-8A90-4C847481E7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  <a14:imgEffect>
                      <a14:colorTemperature colorTemp="11200"/>
                    </a14:imgEffect>
                    <a14:imgEffect>
                      <a14:saturation sat="0"/>
                    </a14:imgEffect>
                    <a14:imgEffect>
                      <a14:brightnessContrast bright="-7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10348" y="194269"/>
            <a:ext cx="4999786" cy="6469462"/>
          </a:xfrm>
          <a:prstGeom prst="rect">
            <a:avLst/>
          </a:prstGeom>
          <a:ln>
            <a:noFill/>
          </a:ln>
          <a:effectLst>
            <a:outerShdw blurRad="1270000" dist="50800" dir="5400000" algn="ctr" rotWithShape="0">
              <a:srgbClr val="000000">
                <a:alpha val="57000"/>
              </a:srgbClr>
            </a:outerShdw>
            <a:softEdge rad="112500"/>
          </a:effectLst>
        </p:spPr>
      </p:pic>
      <p:pic>
        <p:nvPicPr>
          <p:cNvPr id="24" name="Kép 23">
            <a:extLst>
              <a:ext uri="{FF2B5EF4-FFF2-40B4-BE49-F238E27FC236}">
                <a16:creationId xmlns:a16="http://schemas.microsoft.com/office/drawing/2014/main" id="{099D76DD-A18A-4315-A68E-7E92E10A9B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64720" y="5223148"/>
            <a:ext cx="2732023" cy="14333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6580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85185E-6 L -0.25 -1.85185E-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10000"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moke-detector-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520"/>
                            </p:stCondLst>
                            <p:childTnLst>
                              <p:par>
                                <p:cTn id="1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moke-detector-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54E4F1-34C9-4647-8829-B15FDA63D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26" y="667466"/>
            <a:ext cx="9612971" cy="1143324"/>
          </a:xfrm>
        </p:spPr>
        <p:txBody>
          <a:bodyPr/>
          <a:lstStyle/>
          <a:p>
            <a:pPr algn="l"/>
            <a:r>
              <a:rPr lang="hu-HU" dirty="0"/>
              <a:t>Projekt Tudnivalók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623E5E5-C623-4A54-BFA6-4C887AD5C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3101" y="2058367"/>
            <a:ext cx="9704896" cy="3466133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Fitness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applikáció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Étel neve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Kalória, tápérték adatok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Menü kezelés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Lépésszámláló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Kalória bevitel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hu-H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45F4F8DB-7581-49A6-B702-5152B6976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colorTemperature colorTemp="11200"/>
                    </a14:imgEffect>
                    <a14:imgEffect>
                      <a14:saturation sat="0"/>
                    </a14:imgEffect>
                    <a14:imgEffect>
                      <a14:brightnessContrast bright="-7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5475" y="4576382"/>
            <a:ext cx="1618529" cy="2094292"/>
          </a:xfrm>
          <a:prstGeom prst="rect">
            <a:avLst/>
          </a:prstGeom>
          <a:ln>
            <a:noFill/>
          </a:ln>
          <a:effectLst>
            <a:outerShdw blurRad="1270000" dist="50800" dir="5400000" algn="ctr" rotWithShape="0">
              <a:srgbClr val="000000">
                <a:alpha val="57000"/>
              </a:srgbClr>
            </a:outerShdw>
            <a:softEdge rad="112500"/>
          </a:effectLst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734611CC-813C-4037-AD4B-52F8B1E69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colorTemperature colorTemp="11200"/>
                    </a14:imgEffect>
                    <a14:imgEffect>
                      <a14:saturation sat="0"/>
                    </a14:imgEffect>
                    <a14:imgEffect>
                      <a14:brightnessContrast bright="-7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19597" y="126999"/>
            <a:ext cx="1011150" cy="1308375"/>
          </a:xfrm>
          <a:prstGeom prst="rect">
            <a:avLst/>
          </a:prstGeom>
          <a:ln>
            <a:noFill/>
          </a:ln>
          <a:effectLst>
            <a:outerShdw blurRad="1270000" dist="50800" dir="5400000" algn="ctr" rotWithShape="0">
              <a:srgbClr val="000000">
                <a:alpha val="57000"/>
              </a:srgbClr>
            </a:outerShdw>
            <a:softEdge rad="112500"/>
          </a:effec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03204952-687E-4ECF-8FF8-4A96989743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colorTemperature colorTemp="11200"/>
                    </a14:imgEffect>
                    <a14:imgEffect>
                      <a14:saturation sat="0"/>
                    </a14:imgEffect>
                    <a14:imgEffect>
                      <a14:brightnessContrast bright="-7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56597" y="584941"/>
            <a:ext cx="1011150" cy="1308375"/>
          </a:xfrm>
          <a:prstGeom prst="rect">
            <a:avLst/>
          </a:prstGeom>
          <a:ln>
            <a:noFill/>
          </a:ln>
          <a:effectLst>
            <a:outerShdw blurRad="1270000" dist="50800" dir="5400000" algn="ctr" rotWithShape="0">
              <a:srgbClr val="000000">
                <a:alpha val="57000"/>
              </a:srgbClr>
            </a:outerShdw>
            <a:softEdge rad="112500"/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3C0D1673-AC03-4019-8F05-F843081138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4969" y="2341933"/>
            <a:ext cx="3458086" cy="451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75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85185E-6 L -0.25 -1.85185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10000"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moke-detector-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520"/>
                            </p:stCondLst>
                            <p:childTnLst>
                              <p:par>
                                <p:cTn id="4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1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moke-detector-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54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10000"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moke-detector-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4560"/>
                            </p:stCondLst>
                            <p:childTnLst>
                              <p:par>
                                <p:cTn id="5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moke-detector-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458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10000"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moke-detector-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600"/>
                            </p:stCondLst>
                            <p:childTnLst>
                              <p:par>
                                <p:cTn id="5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1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moke-detector-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54E4F1-34C9-4647-8829-B15FDA63D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26" y="667466"/>
            <a:ext cx="9612971" cy="1143324"/>
          </a:xfrm>
        </p:spPr>
        <p:txBody>
          <a:bodyPr/>
          <a:lstStyle/>
          <a:p>
            <a:pPr algn="l"/>
            <a:r>
              <a:rPr lang="hu-HU" dirty="0"/>
              <a:t>Funkcionalitás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623E5E5-C623-4A54-BFA6-4C887AD5C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3101" y="2058367"/>
            <a:ext cx="9704896" cy="3466133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Étkezések rögzítése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b="1" dirty="0"/>
              <a:t>Napi log hozzáadása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b="1" dirty="0"/>
              <a:t>Napi összesítő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b="1" dirty="0"/>
              <a:t>Fájl ment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b="1" dirty="0" err="1"/>
              <a:t>Menüvezérelt</a:t>
            </a:r>
            <a:r>
              <a:rPr lang="hu-HU" b="1" dirty="0"/>
              <a:t> rendszer</a:t>
            </a:r>
            <a:endParaRPr lang="hu-H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45F4F8DB-7581-49A6-B702-5152B6976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colorTemperature colorTemp="11200"/>
                    </a14:imgEffect>
                    <a14:imgEffect>
                      <a14:saturation sat="0"/>
                    </a14:imgEffect>
                    <a14:imgEffect>
                      <a14:brightnessContrast bright="-7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5475" y="4576382"/>
            <a:ext cx="1618529" cy="2094292"/>
          </a:xfrm>
          <a:prstGeom prst="rect">
            <a:avLst/>
          </a:prstGeom>
          <a:ln>
            <a:noFill/>
          </a:ln>
          <a:effectLst>
            <a:outerShdw blurRad="1270000" dist="50800" dir="5400000" algn="ctr" rotWithShape="0">
              <a:srgbClr val="000000">
                <a:alpha val="57000"/>
              </a:srgbClr>
            </a:outerShdw>
            <a:softEdge rad="112500"/>
          </a:effectLst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734611CC-813C-4037-AD4B-52F8B1E69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colorTemperature colorTemp="11200"/>
                    </a14:imgEffect>
                    <a14:imgEffect>
                      <a14:saturation sat="0"/>
                    </a14:imgEffect>
                    <a14:imgEffect>
                      <a14:brightnessContrast bright="-7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19597" y="126999"/>
            <a:ext cx="1011150" cy="1308375"/>
          </a:xfrm>
          <a:prstGeom prst="rect">
            <a:avLst/>
          </a:prstGeom>
          <a:ln>
            <a:noFill/>
          </a:ln>
          <a:effectLst>
            <a:outerShdw blurRad="1270000" dist="50800" dir="5400000" algn="ctr" rotWithShape="0">
              <a:srgbClr val="000000">
                <a:alpha val="57000"/>
              </a:srgbClr>
            </a:outerShdw>
            <a:softEdge rad="112500"/>
          </a:effec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03204952-687E-4ECF-8FF8-4A96989743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colorTemperature colorTemp="11200"/>
                    </a14:imgEffect>
                    <a14:imgEffect>
                      <a14:saturation sat="0"/>
                    </a14:imgEffect>
                    <a14:imgEffect>
                      <a14:brightnessContrast bright="-7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56597" y="584941"/>
            <a:ext cx="1011150" cy="1308375"/>
          </a:xfrm>
          <a:prstGeom prst="rect">
            <a:avLst/>
          </a:prstGeom>
          <a:ln>
            <a:noFill/>
          </a:ln>
          <a:effectLst>
            <a:outerShdw blurRad="1270000" dist="50800" dir="5400000" algn="ctr" rotWithShape="0">
              <a:srgbClr val="000000">
                <a:alpha val="57000"/>
              </a:srgbClr>
            </a:outerShdw>
            <a:softEdge rad="112500"/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60893FBC-A8BE-4E4A-A539-51B2F4E623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4969" y="2341933"/>
            <a:ext cx="3458086" cy="451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19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85185E-6 L -0.25 -1.85185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10000"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moke-detector-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020"/>
                            </p:stCondLst>
                            <p:childTnLst>
                              <p:par>
                                <p:cTn id="3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moke-detector-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804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10000"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moke-detector-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4060"/>
                            </p:stCondLst>
                            <p:childTnLst>
                              <p:par>
                                <p:cTn id="4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moke-detector-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408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10000"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moke-detector-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100"/>
                            </p:stCondLst>
                            <p:childTnLst>
                              <p:par>
                                <p:cTn id="5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1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moke-detector-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339FA1-9475-4817-A595-46232757E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25" y="622575"/>
            <a:ext cx="9612971" cy="1143324"/>
          </a:xfrm>
        </p:spPr>
        <p:txBody>
          <a:bodyPr/>
          <a:lstStyle/>
          <a:p>
            <a:pPr algn="l"/>
            <a:r>
              <a:rPr lang="hu-HU" dirty="0"/>
              <a:t>Hogyan működik?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6D2C80A-53D3-4C63-9367-10E1641F1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025" y="1925619"/>
            <a:ext cx="9612971" cy="3434033"/>
          </a:xfrm>
        </p:spPr>
        <p:txBody>
          <a:bodyPr>
            <a:normAutofit/>
          </a:bodyPr>
          <a:lstStyle/>
          <a:p>
            <a:pPr algn="l"/>
            <a:r>
              <a:rPr lang="hu-HU" b="1" dirty="0"/>
              <a:t>3 fő osztály:</a:t>
            </a:r>
            <a:endParaRPr lang="hu-HU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dirty="0"/>
              <a:t>Étel (</a:t>
            </a:r>
            <a:r>
              <a:rPr lang="hu-HU" dirty="0" err="1"/>
              <a:t>BasicFood</a:t>
            </a:r>
            <a:r>
              <a:rPr lang="hu-HU" dirty="0"/>
              <a:t> és </a:t>
            </a:r>
            <a:r>
              <a:rPr lang="hu-HU" dirty="0" err="1"/>
              <a:t>CustomRecipe</a:t>
            </a:r>
            <a:r>
              <a:rPr lang="hu-HU" dirty="0"/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dirty="0"/>
              <a:t>Napi napló (</a:t>
            </a:r>
            <a:r>
              <a:rPr lang="hu-HU" dirty="0" err="1"/>
              <a:t>DailyLog</a:t>
            </a:r>
            <a:r>
              <a:rPr lang="hu-HU" dirty="0"/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dirty="0"/>
              <a:t>Felhasználó (</a:t>
            </a:r>
            <a:r>
              <a:rPr lang="hu-HU" dirty="0" err="1"/>
              <a:t>User</a:t>
            </a:r>
            <a:r>
              <a:rPr lang="hu-HU" dirty="0"/>
              <a:t>)</a:t>
            </a:r>
          </a:p>
          <a:p>
            <a:r>
              <a:rPr lang="hu-HU" b="1" dirty="0"/>
              <a:t>Mit csinálnak?</a:t>
            </a:r>
            <a:endParaRPr lang="hu-HU" dirty="0"/>
          </a:p>
          <a:p>
            <a:r>
              <a:rPr lang="hu-HU" dirty="0"/>
              <a:t>Ételek tárolják: név, kalória, fehérje, zsír, szénhidrát</a:t>
            </a:r>
          </a:p>
          <a:p>
            <a:r>
              <a:rPr lang="hu-HU" dirty="0"/>
              <a:t>Napló gyűjti az ételeket naponta</a:t>
            </a:r>
          </a:p>
          <a:p>
            <a:r>
              <a:rPr lang="hu-HU" dirty="0"/>
              <a:t>Felhasználó adatai: név, kor, súly, magasság</a:t>
            </a:r>
          </a:p>
          <a:p>
            <a:pPr algn="l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70942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55FA0AA-A091-4809-AF37-851686580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25" y="926686"/>
            <a:ext cx="9612971" cy="1143324"/>
          </a:xfrm>
        </p:spPr>
        <p:txBody>
          <a:bodyPr/>
          <a:lstStyle/>
          <a:p>
            <a:pPr algn="l"/>
            <a:r>
              <a:rPr lang="hu-HU" dirty="0"/>
              <a:t>Adatok mentése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BC9FC33-1DF5-4817-A603-21655E720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025" y="2173045"/>
            <a:ext cx="9612971" cy="3186607"/>
          </a:xfrm>
        </p:spPr>
        <p:txBody>
          <a:bodyPr>
            <a:normAutofit/>
          </a:bodyPr>
          <a:lstStyle/>
          <a:p>
            <a:pPr algn="l"/>
            <a:r>
              <a:rPr lang="hu-HU" b="1" dirty="0"/>
              <a:t>Hova menti?</a:t>
            </a:r>
            <a:endParaRPr lang="hu-HU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dirty="0" err="1"/>
              <a:t>AppData</a:t>
            </a:r>
            <a:r>
              <a:rPr lang="hu-HU" dirty="0"/>
              <a:t>/</a:t>
            </a:r>
            <a:r>
              <a:rPr lang="hu-HU" dirty="0" err="1"/>
              <a:t>FitPal</a:t>
            </a:r>
            <a:r>
              <a:rPr lang="hu-HU" dirty="0"/>
              <a:t> mappába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dirty="0"/>
              <a:t>3 fájl: logs.txt, recipes.txt, user.txt</a:t>
            </a:r>
          </a:p>
          <a:p>
            <a:pPr algn="l"/>
            <a:r>
              <a:rPr lang="hu-HU" b="1" dirty="0"/>
              <a:t>Mikor?</a:t>
            </a:r>
            <a:endParaRPr lang="hu-HU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dirty="0"/>
              <a:t>Indításkor betölti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u-HU" dirty="0"/>
              <a:t>Kilépéskor elmenti</a:t>
            </a:r>
          </a:p>
          <a:p>
            <a:pPr algn="l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99296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103B717-7F8F-4ADE-B1CB-2BA65ECF2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2498" y="6215231"/>
            <a:ext cx="846721" cy="725097"/>
          </a:xfrm>
        </p:spPr>
        <p:txBody>
          <a:bodyPr>
            <a:normAutofit fontScale="90000"/>
          </a:bodyPr>
          <a:lstStyle/>
          <a:p>
            <a:r>
              <a:rPr lang="hu-HU" dirty="0"/>
              <a:t>6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EEB4FB8A-9BE1-4EF4-AEAB-20378002B912}"/>
              </a:ext>
            </a:extLst>
          </p:cNvPr>
          <p:cNvSpPr txBox="1">
            <a:spLocks/>
          </p:cNvSpPr>
          <p:nvPr/>
        </p:nvSpPr>
        <p:spPr>
          <a:xfrm>
            <a:off x="765025" y="926686"/>
            <a:ext cx="9612971" cy="11433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r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72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hu-HU" dirty="0"/>
              <a:t>Mit tud az app?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30217E5-3423-42CB-AE0E-0C377FF2C6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5025" y="2116702"/>
            <a:ext cx="665903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altLang="hu-H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Ételek hozzáadása dátum szerint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Lépésszám rögzítése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Napi összesítés mutatása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Összes napló megtekintése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Receptek mentése későbbre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Felhasználói adatok szerkesztése </a:t>
            </a:r>
          </a:p>
        </p:txBody>
      </p:sp>
    </p:spTree>
    <p:extLst>
      <p:ext uri="{BB962C8B-B14F-4D97-AF65-F5344CB8AC3E}">
        <p14:creationId xmlns:p14="http://schemas.microsoft.com/office/powerpoint/2010/main" val="917718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470DB60-1236-4CC9-910C-C72381B71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4947" y="5965371"/>
            <a:ext cx="657053" cy="997240"/>
          </a:xfrm>
        </p:spPr>
        <p:txBody>
          <a:bodyPr>
            <a:normAutofit fontScale="90000"/>
          </a:bodyPr>
          <a:lstStyle/>
          <a:p>
            <a:r>
              <a:rPr lang="hu-HU" dirty="0"/>
              <a:t>7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E9B1E3C-7BC3-4C3E-8839-C787EDA6B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168" y="2518157"/>
            <a:ext cx="4677832" cy="2241332"/>
          </a:xfrm>
        </p:spPr>
        <p:txBody>
          <a:bodyPr>
            <a:normAutofit/>
          </a:bodyPr>
          <a:lstStyle/>
          <a:p>
            <a:pPr algn="l"/>
            <a:r>
              <a:rPr lang="hu-HU" dirty="0"/>
              <a:t>Andor</a:t>
            </a:r>
          </a:p>
          <a:p>
            <a:pPr algn="l"/>
            <a:endParaRPr lang="hu-HU" dirty="0"/>
          </a:p>
          <a:p>
            <a:pPr algn="l"/>
            <a:r>
              <a:rPr lang="hu-HU" dirty="0"/>
              <a:t>Norbi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03994889-3BA8-47A7-A2E6-88B8B2FC00B6}"/>
              </a:ext>
            </a:extLst>
          </p:cNvPr>
          <p:cNvSpPr/>
          <p:nvPr/>
        </p:nvSpPr>
        <p:spPr>
          <a:xfrm>
            <a:off x="564599" y="898183"/>
            <a:ext cx="560037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sz="7200" b="1" dirty="0"/>
              <a:t>Csapatmunka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6C88D01A-B853-4344-9E56-41CEF39E5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8514" y="195635"/>
            <a:ext cx="1502229" cy="1502229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921C5BF5-0645-4B46-AA72-C04345F86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800" y="-740536"/>
            <a:ext cx="1981200" cy="2438400"/>
          </a:xfrm>
          <a:prstGeom prst="rect">
            <a:avLst/>
          </a:prstGeom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4D8789FC-619E-4D01-8644-7F92C8E42C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301093" y="5396999"/>
            <a:ext cx="2424793" cy="1136743"/>
          </a:xfrm>
          <a:prstGeom prst="rect">
            <a:avLst/>
          </a:prstGeom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3ECF8DCA-5B2E-413C-90E0-55A88C5115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76300" y="5805544"/>
            <a:ext cx="657053" cy="658447"/>
          </a:xfrm>
          <a:prstGeom prst="rect">
            <a:avLst/>
          </a:prstGeom>
        </p:spPr>
      </p:pic>
      <p:grpSp>
        <p:nvGrpSpPr>
          <p:cNvPr id="25" name="Csoportba foglalás 24">
            <a:extLst>
              <a:ext uri="{FF2B5EF4-FFF2-40B4-BE49-F238E27FC236}">
                <a16:creationId xmlns:a16="http://schemas.microsoft.com/office/drawing/2014/main" id="{19DD545D-B7B3-4DFC-BC48-823C1A805E6D}"/>
              </a:ext>
            </a:extLst>
          </p:cNvPr>
          <p:cNvGrpSpPr/>
          <p:nvPr/>
        </p:nvGrpSpPr>
        <p:grpSpPr>
          <a:xfrm>
            <a:off x="-3301093" y="5705216"/>
            <a:ext cx="975632" cy="859102"/>
            <a:chOff x="-3301092" y="5604889"/>
            <a:chExt cx="975632" cy="859102"/>
          </a:xfrm>
        </p:grpSpPr>
        <p:pic>
          <p:nvPicPr>
            <p:cNvPr id="21" name="Kép 20">
              <a:extLst>
                <a:ext uri="{FF2B5EF4-FFF2-40B4-BE49-F238E27FC236}">
                  <a16:creationId xmlns:a16="http://schemas.microsoft.com/office/drawing/2014/main" id="{EC480F70-B679-4A5B-B291-4159CFE5E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3301092" y="5761653"/>
              <a:ext cx="975632" cy="702338"/>
            </a:xfrm>
            <a:prstGeom prst="rect">
              <a:avLst/>
            </a:prstGeom>
          </p:spPr>
        </p:pic>
        <p:pic>
          <p:nvPicPr>
            <p:cNvPr id="24" name="Kép 23">
              <a:extLst>
                <a:ext uri="{FF2B5EF4-FFF2-40B4-BE49-F238E27FC236}">
                  <a16:creationId xmlns:a16="http://schemas.microsoft.com/office/drawing/2014/main" id="{E8DF45EB-9D37-4B18-911C-28EB5404E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-3145720" y="5604889"/>
              <a:ext cx="664888" cy="7209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0731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700">
        <p14:prism/>
        <p:sndAc>
          <p:stSnd>
            <p:snd r:embed="rId2" name="Sliding emoji with stone sliding sound effect.wav"/>
          </p:stSnd>
        </p:sndAc>
      </p:transition>
    </mc:Choice>
    <mc:Fallback xmlns="">
      <p:transition spd="slow">
        <p:fade/>
        <p:sndAc>
          <p:stSnd>
            <p:snd r:embed="rId9" name="Sliding emoji with stone sliding sound eff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289 -0.03635 L 0.16289 -0.03611 C 0.17187 -0.03195 0.1806 -0.02871 0.18945 -0.02338 C 0.19283 -0.0213 0.19583 -0.01736 0.19908 -0.01482 C 0.20143 -0.01297 0.20403 -0.01227 0.20638 -0.01042 C 0.20963 -0.0081 0.21289 -0.0051 0.21601 -0.00185 C 0.22018 0.00208 0.22382 0.00764 0.22812 0.01088 C 0.23125 0.01342 0.23463 0.01389 0.23789 0.01528 C 0.27968 0.06504 0.24531 0.02778 0.37096 0.01967 C 0.37903 0.01898 0.37786 0.01157 0.38515 0.00671 C 0.38919 0.00416 0.39349 0.0037 0.39752 0.00231 C 0.43294 -0.02917 0.39336 0.00532 0.42395 -0.01922 C 0.44023 -0.03195 0.42695 -0.02477 0.44349 -0.03195 C 0.44661 -0.03773 0.44961 -0.04398 0.45312 -0.04931 C 0.45612 -0.05394 0.45989 -0.05718 0.46289 -0.06204 C 0.46471 -0.06574 0.46614 -0.0706 0.4677 -0.075 C 0.47083 -0.08496 0.47382 -0.09537 0.47721 -0.1051 C 0.48281 -0.12037 0.48502 -0.12315 0.49192 -0.13519 C 0.49908 -0.2 0.48763 -0.11042 0.50156 -0.17824 C 0.50325 -0.18635 0.50312 -0.19537 0.5039 -0.20394 C 0.50312 -0.20834 0.50312 -0.21343 0.50156 -0.2169 C 0.49023 -0.24144 0.44987 -0.2213 0.44817 -0.2213 C 0.44596 -0.21551 0.4427 -0.21065 0.44101 -0.20394 C 0.43945 -0.19746 0.43867 -0.18982 0.43867 -0.18264 C 0.43867 -0.13658 0.43867 -0.09074 0.44101 -0.04491 C 0.44127 -0.03982 0.44323 -0.03426 0.44596 -0.03195 C 0.45026 -0.02824 0.4556 -0.02917 0.46041 -0.02778 C 0.47565 -0.00949 0.4582 -0.02755 0.48463 -0.01482 C 0.50807 -0.00347 0.47604 -0.00116 0.51601 0.00671 L 0.53789 0.01088 C 0.56588 0.00949 0.59414 0.00926 0.62239 0.00671 C 0.62604 0.00625 0.63724 0.00162 0.64179 -0.00185 C 0.64843 -0.00718 0.65403 -0.0176 0.66093 -0.01922 L 0.68046 -0.02338 C 0.71015 -0.04097 0.68073 -0.02153 0.70716 -0.04491 C 0.71276 -0.04977 0.71849 -0.05301 0.72408 -0.05787 C 0.72669 -0.06019 0.72877 -0.06412 0.73125 -0.06644 C 0.73515 -0.06991 0.73958 -0.0713 0.74349 -0.075 C 0.74856 -0.0801 0.75221 -0.09097 0.75807 -0.09213 L 0.77734 -0.09653 C 0.78138 -0.10093 0.78567 -0.1044 0.78932 -0.10949 C 0.81875 -0.15 0.77851 -0.10463 0.81119 -0.13959 C 0.82174 -0.16736 0.80898 -0.13959 0.82578 -0.15672 C 0.82864 -0.15972 0.8302 -0.16597 0.83307 -0.16968 C 0.83763 -0.17593 0.84257 -0.18102 0.84739 -0.18681 L 0.85481 -0.19537 C 0.85638 -0.19977 0.85755 -0.20463 0.8595 -0.20834 C 0.86171 -0.21204 0.86471 -0.21366 0.86679 -0.2169 C 0.86953 -0.22084 0.87161 -0.22547 0.87395 -0.22986 C 0.875 -0.23426 0.87474 -0.23935 0.87643 -0.24283 C 0.88346 -0.25718 0.897 -0.26806 0.90546 -0.27709 C 0.90807 -0.27986 0.91041 -0.28218 0.91289 -0.28565 C 0.92122 -0.29954 0.92799 -0.31667 0.93711 -0.32871 C 0.94908 -0.34468 0.94323 -0.33773 0.9539 -0.35023 C 0.95546 -0.35463 0.95664 -0.35996 0.95872 -0.3632 C 0.96145 -0.36736 0.96536 -0.36806 0.96849 -0.37176 C 0.97135 -0.37523 0.9733 -0.38033 0.97565 -0.38472 C 0.97734 -0.39051 0.97851 -0.39653 0.9806 -0.40185 C 0.98333 -0.40972 0.98997 -0.42292 0.99257 -0.43195 C 0.99375 -0.43611 0.99401 -0.44074 0.99518 -0.44491 C 0.99648 -0.44954 0.99843 -0.45347 1 -0.45787 C 1.00234 -0.46482 1.00507 -0.47176 1.00716 -0.47917 C 1.01627 -0.51181 1.00664 -0.49097 1.01914 -0.51366 C 1.02096 -0.51945 1.02265 -0.525 1.02421 -0.53079 C 1.02513 -0.53496 1.02513 -0.54005 1.02656 -0.54375 C 1.02851 -0.54885 1.03138 -0.55232 1.03385 -0.55672 C 1.03619 -0.58959 1.03385 -0.60718 1.05299 -0.62986 C 1.07916 -0.66042 1.03971 -0.61273 1.06757 -0.65139 C 1.08294 -0.67222 1.08203 -0.65764 1.08203 -0.67269 " pathEditMode="relative" rAng="0" ptsTypes="AAAAAAAAAAAAAAAAAAAAAAAAAAAAAAAAAAAAAAAAAAAAAAAAAAAAAAAAAAAAAAAAAAAAA">
                                      <p:cBhvr>
                                        <p:cTn id="19" dur="1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951" y="-27986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9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1500"/>
                            </p:stCondLst>
                            <p:childTnLst>
                              <p:par>
                                <p:cTn id="23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0.00833 L 1.14805 -0.02453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396" y="-81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44444E-6 L 1.29011 -0.02453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505" y="-12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F80C96-A7F1-4D81-8BBB-C87FC6CC2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C490A2C-5C31-4B21-839D-740923148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7C1269E-4946-4749-A0C6-BDAC98165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201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F262ED8-AEE4-408A-9D68-81B7AFBAC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662" y="1498348"/>
            <a:ext cx="10517696" cy="1271197"/>
          </a:xfrm>
        </p:spPr>
        <p:txBody>
          <a:bodyPr/>
          <a:lstStyle/>
          <a:p>
            <a:r>
              <a:rPr lang="hu-HU" dirty="0"/>
              <a:t>Köszönjük a figyelmet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58D0DAF-6267-4023-A275-D406368CF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6548" y="5359652"/>
            <a:ext cx="1322896" cy="368552"/>
          </a:xfrm>
        </p:spPr>
        <p:txBody>
          <a:bodyPr>
            <a:normAutofit fontScale="77500" lnSpcReduction="20000"/>
          </a:bodyPr>
          <a:lstStyle/>
          <a:p>
            <a:r>
              <a:rPr lang="hu-HU" dirty="0" err="1"/>
              <a:t>Viceltem</a:t>
            </a:r>
            <a:r>
              <a:rPr lang="hu-HU" dirty="0"/>
              <a:t>✌</a:t>
            </a:r>
          </a:p>
        </p:txBody>
      </p:sp>
    </p:spTree>
    <p:extLst>
      <p:ext uri="{BB962C8B-B14F-4D97-AF65-F5344CB8AC3E}">
        <p14:creationId xmlns:p14="http://schemas.microsoft.com/office/powerpoint/2010/main" val="492394508"/>
      </p:ext>
    </p:extLst>
  </p:cSld>
  <p:clrMapOvr>
    <a:masterClrMapping/>
  </p:clrMapOvr>
</p:sld>
</file>

<file path=ppt/theme/theme1.xml><?xml version="1.0" encoding="utf-8"?>
<a:theme xmlns:a="http://schemas.openxmlformats.org/drawingml/2006/main" name="Körülvágás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082C27-02EB-4B4A-A84F-7021AA79D4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E155078-021E-49AB-8F30-C53CA1A5999D}">
  <ds:schemaRefs>
    <ds:schemaRef ds:uri="http://purl.org/dc/elements/1.1/"/>
    <ds:schemaRef ds:uri="http://schemas.microsoft.com/office/2006/documentManagement/types"/>
    <ds:schemaRef ds:uri="71af3243-3dd4-4a8d-8c0d-dd76da1f02a5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purl.org/dc/terms/"/>
    <ds:schemaRef ds:uri="http://schemas.openxmlformats.org/package/2006/metadata/core-properties"/>
    <ds:schemaRef ds:uri="16c05727-aa75-4e4a-9b5f-8a80a1165891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26757D5-6F93-45B0-82A2-39BC87D70F3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Utazási arculat</Template>
  <TotalTime>0</TotalTime>
  <Words>151</Words>
  <Application>Microsoft Office PowerPoint</Application>
  <PresentationFormat>Szélesvásznú</PresentationFormat>
  <Paragraphs>48</Paragraphs>
  <Slides>9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3" baseType="lpstr">
      <vt:lpstr>Arial</vt:lpstr>
      <vt:lpstr>Calibri</vt:lpstr>
      <vt:lpstr>Franklin Gothic Book</vt:lpstr>
      <vt:lpstr>Körülvágás</vt:lpstr>
      <vt:lpstr>Fitness cope</vt:lpstr>
      <vt:lpstr>Projekt Tudnivalók</vt:lpstr>
      <vt:lpstr>Funkcionalitás</vt:lpstr>
      <vt:lpstr>Hogyan működik?</vt:lpstr>
      <vt:lpstr>Adatok mentése</vt:lpstr>
      <vt:lpstr>6</vt:lpstr>
      <vt:lpstr>7</vt:lpstr>
      <vt:lpstr>PowerPoint-bemutató</vt:lpstr>
      <vt:lpstr>Köszönjük a figyelmet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2025-11-27T10:22:33Z</dcterms:created>
  <dcterms:modified xsi:type="dcterms:W3CDTF">2025-12-04T08:29:15Z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